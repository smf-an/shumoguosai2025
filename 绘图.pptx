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" name="组合 11"/>
          <p:cNvGrpSpPr/>
          <p:nvPr/>
        </p:nvGrpSpPr>
        <p:grpSpPr>
          <a:xfrm>
            <a:off x="991235" y="558165"/>
            <a:ext cx="9342120" cy="5551805"/>
            <a:chOff x="1561" y="879"/>
            <a:chExt cx="14712" cy="8743"/>
          </a:xfrm>
        </p:grpSpPr>
        <p:pic>
          <p:nvPicPr>
            <p:cNvPr id="4" name="图片 3" descr="空中导弹目标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6120000">
              <a:off x="13619" y="1449"/>
              <a:ext cx="2193" cy="2193"/>
            </a:xfrm>
            <a:prstGeom prst="rect">
              <a:avLst/>
            </a:prstGeom>
          </p:spPr>
        </p:pic>
        <p:sp>
          <p:nvSpPr>
            <p:cNvPr id="5" name="圆柱形 4"/>
            <p:cNvSpPr/>
            <p:nvPr/>
          </p:nvSpPr>
          <p:spPr>
            <a:xfrm>
              <a:off x="1561" y="6057"/>
              <a:ext cx="3175" cy="2268"/>
            </a:xfrm>
            <a:prstGeom prst="can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7067" y="2800"/>
              <a:ext cx="3133" cy="3133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 flipH="1" flipV="1">
              <a:off x="4438" y="6725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 flipH="1" flipV="1">
              <a:off x="4438" y="706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 flipH="1" flipV="1">
              <a:off x="4438" y="7411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 flipH="1" flipV="1">
              <a:off x="4438" y="7780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 flipH="1" flipV="1">
              <a:off x="4057" y="6782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 flipH="1" flipV="1">
              <a:off x="4057" y="7125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 flipH="1" flipV="1">
              <a:off x="4057" y="7505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 flipH="1" flipV="1">
              <a:off x="4057" y="7885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 flipH="1" flipV="1">
              <a:off x="3130" y="629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 flipH="1" flipV="1">
              <a:off x="2773" y="629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 flipH="1" flipV="1">
              <a:off x="3544" y="628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 flipH="1" flipV="1">
              <a:off x="3968" y="628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 flipH="1" flipV="1">
              <a:off x="4363" y="628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 flipH="1" flipV="1">
              <a:off x="2426" y="628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 flipH="1" flipV="1">
              <a:off x="2002" y="628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 flipH="1" flipV="1">
              <a:off x="3187" y="6480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 flipH="1" flipV="1">
              <a:off x="3591" y="6460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 flipH="1" flipV="1">
              <a:off x="2831" y="6470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 flipH="1" flipV="1">
              <a:off x="3060" y="6096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 flipH="1" flipV="1">
              <a:off x="3658" y="6839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 flipH="1" flipV="1">
              <a:off x="3658" y="7182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 flipH="1" flipV="1">
              <a:off x="3658" y="7525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 flipH="1" flipV="1">
              <a:off x="3658" y="7924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 flipH="1" flipV="1">
              <a:off x="3259" y="6839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 flipV="1">
              <a:off x="3259" y="7182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 flipV="1">
              <a:off x="3259" y="7563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 flipH="1" flipV="1">
              <a:off x="3259" y="7981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 flipH="1" flipV="1">
              <a:off x="3457" y="6087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 flipH="1" flipV="1">
              <a:off x="2716" y="6107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 flipH="1" flipV="1">
              <a:off x="2872" y="6820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8574" y="4307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5" name="直接连接符 64"/>
            <p:cNvCxnSpPr>
              <a:stCxn id="37" idx="0"/>
            </p:cNvCxnSpPr>
            <p:nvPr/>
          </p:nvCxnSpPr>
          <p:spPr>
            <a:xfrm flipV="1">
              <a:off x="4085" y="3190"/>
              <a:ext cx="9764" cy="3649"/>
            </a:xfrm>
            <a:prstGeom prst="line">
              <a:avLst/>
            </a:prstGeom>
            <a:ln w="12700" cap="flat" cmpd="sng" algn="ctr">
              <a:solidFill>
                <a:schemeClr val="tx1"/>
              </a:solidFill>
              <a:prstDash val="lg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8626" y="4324"/>
              <a:ext cx="259" cy="70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8" name="任意多边形 67"/>
            <p:cNvSpPr/>
            <p:nvPr/>
          </p:nvSpPr>
          <p:spPr>
            <a:xfrm rot="9600000">
              <a:off x="8845" y="4870"/>
              <a:ext cx="153" cy="149"/>
            </a:xfrm>
            <a:custGeom>
              <a:avLst/>
              <a:gdLst>
                <a:gd name="connisteX0" fmla="*/ 0 w 1676400"/>
                <a:gd name="connsiteY0" fmla="*/ 0 h 1631950"/>
                <a:gd name="connisteX1" fmla="*/ 0 w 1676400"/>
                <a:gd name="connsiteY1" fmla="*/ 1631950 h 1631950"/>
                <a:gd name="connisteX2" fmla="*/ 1676400 w 1676400"/>
                <a:gd name="connsiteY2" fmla="*/ 1631950 h 16319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676400" h="1631950">
                  <a:moveTo>
                    <a:pt x="0" y="0"/>
                  </a:moveTo>
                  <a:lnTo>
                    <a:pt x="0" y="1631950"/>
                  </a:lnTo>
                  <a:lnTo>
                    <a:pt x="1676400" y="163195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右大括号 69"/>
            <p:cNvSpPr/>
            <p:nvPr/>
          </p:nvSpPr>
          <p:spPr>
            <a:xfrm rot="9660000">
              <a:off x="8524" y="4440"/>
              <a:ext cx="134" cy="668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7964" y="4436"/>
              <a:ext cx="53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d</a:t>
              </a:r>
              <a:endParaRPr lang="en-US" altLang="zh-CN" sz="2400"/>
            </a:p>
          </p:txBody>
        </p:sp>
        <p:cxnSp>
          <p:nvCxnSpPr>
            <p:cNvPr id="72" name="直接连接符 71"/>
            <p:cNvCxnSpPr/>
            <p:nvPr/>
          </p:nvCxnSpPr>
          <p:spPr>
            <a:xfrm flipH="1" flipV="1">
              <a:off x="7095" y="4100"/>
              <a:ext cx="1540" cy="25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3" name="左大括号 72"/>
            <p:cNvSpPr/>
            <p:nvPr/>
          </p:nvSpPr>
          <p:spPr>
            <a:xfrm rot="5940000">
              <a:off x="7811" y="3285"/>
              <a:ext cx="194" cy="1557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7273" y="3190"/>
              <a:ext cx="263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R_effective</a:t>
              </a:r>
              <a:endParaRPr lang="en-US" altLang="zh-CN" sz="240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9638" y="5281"/>
              <a:ext cx="153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cloud</a:t>
              </a:r>
              <a:endParaRPr lang="en-US" altLang="zh-CN" sz="2400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4519" y="2892"/>
              <a:ext cx="17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missile</a:t>
              </a:r>
              <a:endParaRPr lang="en-US" altLang="zh-CN" sz="240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2002" y="5281"/>
              <a:ext cx="256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real target</a:t>
              </a:r>
              <a:endParaRPr lang="en-US" altLang="zh-CN" sz="2400"/>
            </a:p>
          </p:txBody>
        </p:sp>
        <p:pic>
          <p:nvPicPr>
            <p:cNvPr id="78" name="图片 77" descr="无人机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45" y="879"/>
              <a:ext cx="2131" cy="2131"/>
            </a:xfrm>
            <a:prstGeom prst="rect">
              <a:avLst/>
            </a:prstGeom>
          </p:spPr>
        </p:pic>
        <p:sp>
          <p:nvSpPr>
            <p:cNvPr id="79" name="文本框 78"/>
            <p:cNvSpPr txBox="1"/>
            <p:nvPr/>
          </p:nvSpPr>
          <p:spPr>
            <a:xfrm>
              <a:off x="6787" y="1881"/>
              <a:ext cx="155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drone</a:t>
              </a:r>
              <a:endParaRPr lang="en-US" altLang="zh-CN" sz="2400"/>
            </a:p>
          </p:txBody>
        </p:sp>
        <p:sp>
          <p:nvSpPr>
            <p:cNvPr id="80" name="椭圆 79"/>
            <p:cNvSpPr/>
            <p:nvPr/>
          </p:nvSpPr>
          <p:spPr>
            <a:xfrm flipH="1" flipV="1">
              <a:off x="2888" y="7182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 flipH="1" flipV="1">
              <a:off x="2888" y="7620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 flipH="1" flipV="1">
              <a:off x="2889" y="803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六角星 1"/>
            <p:cNvSpPr/>
            <p:nvPr/>
          </p:nvSpPr>
          <p:spPr>
            <a:xfrm>
              <a:off x="3269" y="8963"/>
              <a:ext cx="659" cy="659"/>
            </a:xfrm>
            <a:prstGeom prst="star6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15" y="8499"/>
              <a:ext cx="237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fake target</a:t>
              </a:r>
              <a:endParaRPr lang="en-US" altLang="zh-CN" sz="24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180" y="2606"/>
              <a:ext cx="73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A</a:t>
              </a:r>
              <a:endParaRPr lang="en-US" altLang="zh-CN" sz="240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025" y="6725"/>
              <a:ext cx="76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B</a:t>
              </a:r>
              <a:endParaRPr lang="en-US" altLang="zh-CN" sz="240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635" y="3846"/>
              <a:ext cx="67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C</a:t>
              </a:r>
              <a:endParaRPr lang="en-US" altLang="zh-CN" sz="24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763" y="4950"/>
              <a:ext cx="81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P</a:t>
              </a:r>
              <a:endParaRPr lang="en-US" altLang="zh-CN"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247140" y="1933575"/>
            <a:ext cx="10036175" cy="2724785"/>
            <a:chOff x="1964" y="3834"/>
            <a:chExt cx="15805" cy="4291"/>
          </a:xfrm>
        </p:grpSpPr>
        <p:pic>
          <p:nvPicPr>
            <p:cNvPr id="5" name="图片 4" descr="空中导弹目标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6840000">
              <a:off x="16306" y="4317"/>
              <a:ext cx="1463" cy="1463"/>
            </a:xfrm>
            <a:prstGeom prst="rect">
              <a:avLst/>
            </a:prstGeom>
          </p:spPr>
        </p:pic>
        <p:sp>
          <p:nvSpPr>
            <p:cNvPr id="6" name="椭圆 5"/>
            <p:cNvSpPr/>
            <p:nvPr/>
          </p:nvSpPr>
          <p:spPr>
            <a:xfrm>
              <a:off x="1964" y="5514"/>
              <a:ext cx="2611" cy="26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8418" y="3834"/>
              <a:ext cx="3133" cy="3133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9956" y="5281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0042" y="5356"/>
              <a:ext cx="6398" cy="0"/>
            </a:xfrm>
            <a:prstGeom prst="line">
              <a:avLst/>
            </a:prstGeom>
            <a:ln w="28575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3210" y="6760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3269" y="5365"/>
              <a:ext cx="13035" cy="149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3530" y="5319"/>
              <a:ext cx="12808" cy="2771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3260" y="6810"/>
              <a:ext cx="258" cy="1301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8" name="任意多边形 67"/>
            <p:cNvSpPr/>
            <p:nvPr/>
          </p:nvSpPr>
          <p:spPr>
            <a:xfrm rot="9840000">
              <a:off x="3480" y="7929"/>
              <a:ext cx="153" cy="149"/>
            </a:xfrm>
            <a:custGeom>
              <a:avLst/>
              <a:gdLst>
                <a:gd name="connisteX0" fmla="*/ 0 w 1676400"/>
                <a:gd name="connsiteY0" fmla="*/ 0 h 1631950"/>
                <a:gd name="connisteX1" fmla="*/ 0 w 1676400"/>
                <a:gd name="connsiteY1" fmla="*/ 1631950 h 1631950"/>
                <a:gd name="connisteX2" fmla="*/ 1676400 w 1676400"/>
                <a:gd name="connsiteY2" fmla="*/ 1631950 h 16319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676400" h="1631950">
                  <a:moveTo>
                    <a:pt x="0" y="0"/>
                  </a:moveTo>
                  <a:lnTo>
                    <a:pt x="0" y="1631950"/>
                  </a:lnTo>
                  <a:lnTo>
                    <a:pt x="1676400" y="163195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>
              <a:off x="10365" y="5319"/>
              <a:ext cx="5950" cy="1612"/>
            </a:xfrm>
            <a:prstGeom prst="line">
              <a:avLst/>
            </a:prstGeom>
            <a:ln w="28575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9995" y="5383"/>
              <a:ext cx="370" cy="1594"/>
            </a:xfrm>
            <a:prstGeom prst="line">
              <a:avLst/>
            </a:prstGeom>
            <a:ln w="28575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任意多边形 19"/>
            <p:cNvSpPr/>
            <p:nvPr/>
          </p:nvSpPr>
          <p:spPr>
            <a:xfrm rot="9840000">
              <a:off x="10322" y="6695"/>
              <a:ext cx="201" cy="196"/>
            </a:xfrm>
            <a:custGeom>
              <a:avLst/>
              <a:gdLst>
                <a:gd name="connisteX0" fmla="*/ 0 w 1676400"/>
                <a:gd name="connsiteY0" fmla="*/ 0 h 1631950"/>
                <a:gd name="connisteX1" fmla="*/ 0 w 1676400"/>
                <a:gd name="connsiteY1" fmla="*/ 1631950 h 1631950"/>
                <a:gd name="connisteX2" fmla="*/ 1676400 w 1676400"/>
                <a:gd name="connsiteY2" fmla="*/ 1631950 h 16319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676400" h="1631950">
                  <a:moveTo>
                    <a:pt x="0" y="0"/>
                  </a:moveTo>
                  <a:lnTo>
                    <a:pt x="0" y="1631950"/>
                  </a:lnTo>
                  <a:lnTo>
                    <a:pt x="1676400" y="163195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弧形 20"/>
            <p:cNvSpPr/>
            <p:nvPr/>
          </p:nvSpPr>
          <p:spPr>
            <a:xfrm rot="15480000">
              <a:off x="13804" y="5786"/>
              <a:ext cx="964" cy="127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弧形 21"/>
            <p:cNvSpPr/>
            <p:nvPr/>
          </p:nvSpPr>
          <p:spPr>
            <a:xfrm rot="15120000">
              <a:off x="12318" y="6054"/>
              <a:ext cx="614" cy="120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11944" y="5631"/>
                  <a:ext cx="749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𝛼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4" y="5631"/>
                  <a:ext cx="749" cy="72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13482" y="5301"/>
                  <a:ext cx="863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𝛽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82" y="5301"/>
                  <a:ext cx="863" cy="72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弧形 25"/>
            <p:cNvSpPr/>
            <p:nvPr/>
          </p:nvSpPr>
          <p:spPr>
            <a:xfrm rot="15180000">
              <a:off x="12622" y="5591"/>
              <a:ext cx="727" cy="21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/>
                <p:cNvSpPr txBox="1"/>
                <p:nvPr/>
              </p:nvSpPr>
              <p:spPr>
                <a:xfrm>
                  <a:off x="12145" y="5248"/>
                  <a:ext cx="908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𝛿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45" y="5248"/>
                  <a:ext cx="908" cy="72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本框 27"/>
            <p:cNvSpPr txBox="1"/>
            <p:nvPr/>
          </p:nvSpPr>
          <p:spPr>
            <a:xfrm>
              <a:off x="2205" y="4093"/>
              <a:ext cx="2370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/>
                <a:t>圆柱体的</a:t>
              </a:r>
              <a:r>
                <a:rPr lang="zh-CN" altLang="en-US" sz="2400"/>
                <a:t>外接球</a:t>
              </a:r>
              <a:endParaRPr lang="zh-CN" altLang="en-US" sz="240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509" y="7004"/>
              <a:ext cx="143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/>
                <a:t>云团</a:t>
              </a:r>
              <a:endParaRPr lang="zh-CN" altLang="en-US" sz="24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814" y="4184"/>
              <a:ext cx="129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/>
                <a:t>导弹</a:t>
              </a:r>
              <a:endParaRPr lang="zh-CN" altLang="en-US" sz="24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623695" y="576580"/>
            <a:ext cx="9411335" cy="5194300"/>
            <a:chOff x="2557" y="908"/>
            <a:chExt cx="14821" cy="8180"/>
          </a:xfrm>
        </p:grpSpPr>
        <p:pic>
          <p:nvPicPr>
            <p:cNvPr id="11" name="图片 10" descr="无人机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39" y="6540"/>
              <a:ext cx="824" cy="824"/>
            </a:xfrm>
            <a:prstGeom prst="rect">
              <a:avLst/>
            </a:prstGeom>
          </p:spPr>
        </p:pic>
        <p:cxnSp>
          <p:nvCxnSpPr>
            <p:cNvPr id="13" name="直接箭头连接符 12"/>
            <p:cNvCxnSpPr/>
            <p:nvPr/>
          </p:nvCxnSpPr>
          <p:spPr>
            <a:xfrm flipV="1">
              <a:off x="8418" y="5250"/>
              <a:ext cx="2960" cy="1681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V="1">
              <a:off x="4434" y="1245"/>
              <a:ext cx="0" cy="725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4456" y="8486"/>
              <a:ext cx="123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8430" y="6931"/>
              <a:ext cx="3639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7" name="图片 16" descr="空中导弹目标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7440000">
              <a:off x="15252" y="6032"/>
              <a:ext cx="1279" cy="1279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025" y="8364"/>
              <a:ext cx="81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O</a:t>
              </a:r>
              <a:endParaRPr lang="en-US" altLang="zh-CN" sz="24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688" y="8124"/>
              <a:ext cx="69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x</a:t>
              </a:r>
              <a:endParaRPr lang="en-US" altLang="zh-CN" sz="240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869" y="908"/>
              <a:ext cx="71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y</a:t>
              </a:r>
              <a:endParaRPr lang="en-US" altLang="zh-CN" sz="2400"/>
            </a:p>
          </p:txBody>
        </p:sp>
        <p:sp>
          <p:nvSpPr>
            <p:cNvPr id="21" name="椭圆 20"/>
            <p:cNvSpPr/>
            <p:nvPr/>
          </p:nvSpPr>
          <p:spPr>
            <a:xfrm>
              <a:off x="4227" y="7709"/>
              <a:ext cx="415" cy="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557" y="7403"/>
              <a:ext cx="16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真目标</a:t>
              </a:r>
              <a:endParaRPr lang="zh-CN" altLang="en-US"/>
            </a:p>
          </p:txBody>
        </p:sp>
        <p:sp>
          <p:nvSpPr>
            <p:cNvPr id="23" name="弧形 22"/>
            <p:cNvSpPr/>
            <p:nvPr/>
          </p:nvSpPr>
          <p:spPr>
            <a:xfrm rot="3900000">
              <a:off x="8605" y="6445"/>
              <a:ext cx="898" cy="230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9095" y="6327"/>
                  <a:ext cx="806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𝜃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5" y="6327"/>
                  <a:ext cx="806" cy="72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/>
            <p:cNvSpPr txBox="1"/>
            <p:nvPr/>
          </p:nvSpPr>
          <p:spPr>
            <a:xfrm>
              <a:off x="7405" y="5784"/>
              <a:ext cx="175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/>
                <a:t>无人机</a:t>
              </a:r>
              <a:endParaRPr lang="zh-CN" altLang="en-US" sz="240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4799" y="5728"/>
              <a:ext cx="150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/>
                <a:t>导弹</a:t>
              </a:r>
              <a:endParaRPr lang="zh-CN" altLang="en-US" sz="24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演示</Application>
  <PresentationFormat>宽屏</PresentationFormat>
  <Paragraphs>48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Cambria Math</vt:lpstr>
      <vt:lpstr>MS Mincho</vt:lpstr>
      <vt:lpstr>Calibri</vt:lpstr>
      <vt:lpstr>微软雅黑</vt:lpstr>
      <vt:lpstr>Arial Unicode MS</vt:lpstr>
      <vt:lpstr>SWAstro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史沐凡</dc:creator>
  <cp:lastModifiedBy>史沐凡</cp:lastModifiedBy>
  <cp:revision>13</cp:revision>
  <dcterms:created xsi:type="dcterms:W3CDTF">2023-08-09T12:44:00Z</dcterms:created>
  <dcterms:modified xsi:type="dcterms:W3CDTF">2025-09-07T08:04:01Z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